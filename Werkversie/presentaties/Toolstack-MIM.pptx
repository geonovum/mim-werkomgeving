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65"/>
    <p:restoredTop sz="94664"/>
  </p:normalViewPr>
  <p:slideViewPr>
    <p:cSldViewPr snapToGrid="0">
      <p:cViewPr varScale="1">
        <p:scale>
          <a:sx n="134" d="100"/>
          <a:sy n="134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6620E-7387-F447-A4A7-6A44383BB107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CF0BD-B4CC-3A42-B515-3F0444DE757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824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F0BD-B4CC-3A42-B515-3F0444DE757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916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0A24-EDA7-1EF2-9D05-0D6B19D5F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0E9A9-EE16-5705-C816-503A247DA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DD911-2D97-55FE-DFBC-11C8DCDE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99DE2-5076-7409-8E99-210CC0BF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6D8CB-FA00-74AA-E600-1C222B89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137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E877-C139-F311-9DEB-69464D59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FD34-C62A-0257-86E2-A3695B213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6F9CB-E37B-15C2-861D-5C29E13E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3B3D-13F0-3A99-7A44-EF91B18A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F7099-4954-0B1D-61B9-B33EBF62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35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C46F-D858-2F7B-C21A-AA6B02E7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94262-D8AE-52B4-B2BA-F2014A201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F0DE-997D-5B77-F61D-68239387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FAEEC-5D07-5DCC-895A-A727185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2AD8D-DCBE-E39B-98E1-1E3EF147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475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5AA1-A9E2-5E5B-A031-558CFD16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3F45-CD64-6015-F05F-CDDD6C319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0F80E-05F5-19AE-E359-A664E18FF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C4F73-8915-739B-D209-9B905DE8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AA38D-C32A-533D-02B9-D008AC38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BB76A-9F7C-E8B7-EF9B-D61F6E81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487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B105-33E6-0D3A-74D5-824D6FD8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FCD3D-942B-F8E2-792A-B676D875B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794E2-875A-3CA4-50FE-D35A47BCD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D7927-857C-DE9B-ADC5-EA709C1C3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FF5F5-C438-9C7B-59F9-2209F248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AFE94-DD18-390C-C594-2D07C877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C3120-8952-47B4-0301-7F8A52A4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430B4-209C-E915-4EE4-3B124E65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026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308C-A164-C6F2-2EFE-0B905D79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F8B33-D07C-D05F-FAE8-8E3167B8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B26EB-3930-249B-2568-A1DD10A5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6A0BA-BFE8-62D3-A8F5-41ADD417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090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AA212-94D4-6292-2565-D532E522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88F33-08C5-CEA0-C26C-AF67B37D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3B136-AD5A-A57B-A661-069B73A1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336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257F-4071-3766-0E37-EE804C71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FF16-7025-1690-7A84-7F17B7955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D41C0-FF52-9D74-54E3-AB38C9AF7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4EAAF-4DAD-3826-18D1-918510FC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50351-1272-B8FA-2418-8DF1B02F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E61E8-F929-9F69-F2A1-4D567B3D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452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4ECD-E596-5832-EB66-C843BBD9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901A0-BC89-F742-4BA9-2398A1EAE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3E1C-AC60-2C79-B022-2C4234D54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F1450-37A6-04A4-E7E5-243336BC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AEABB-01BE-8E70-86D2-C5D40D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90BDA-5332-D6A6-F77E-5EF4F396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1418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BE3E-B3BF-6C4B-EB58-0D6BE58B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73344-412A-58BD-4A7A-35591DDB3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F23B1-0A83-E170-5137-3771D8F2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CE5F7-84AB-2B1B-A6EC-DC8B3437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D0894-BFC9-69AE-9A12-46850D1C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890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91F04-D585-11BF-67F8-BCAE56A80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08693-C698-0074-F663-3B944F57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7081-669F-DCE9-50E1-FA7C7276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B5D85-0186-6B87-B021-F5333961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6798-44C7-87FA-44D6-2A6E2748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31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CA2AA7-6E75-AB8E-0F78-C897DEA6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7FA8A-680D-9EDD-22E8-10257ABD6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4DF5B-DEF9-3B3A-7F6F-E6A33EA8D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A2325-9EA6-6F4E-9BBC-B9E6A7776F82}" type="datetimeFigureOut">
              <a:rPr lang="en-NL" smtClean="0"/>
              <a:t>11/09/2025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7F6F2-A23E-1050-C34D-21AC7F8C3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2D48-4E45-1791-B438-2C5441652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BFB6E-7916-CF44-8145-A864E7DD3929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57E8D-4AD8-5E36-BC68-BF8D7F9EE4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L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309135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tiff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5BB4A514-C87B-9DED-CB9B-2C518D6AEA1D}"/>
              </a:ext>
            </a:extLst>
          </p:cNvPr>
          <p:cNvSpPr/>
          <p:nvPr/>
        </p:nvSpPr>
        <p:spPr>
          <a:xfrm>
            <a:off x="7085739" y="3047644"/>
            <a:ext cx="225768" cy="31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6CC0967-33DD-6875-1C29-D253D4298499}"/>
              </a:ext>
            </a:extLst>
          </p:cNvPr>
          <p:cNvGrpSpPr/>
          <p:nvPr/>
        </p:nvGrpSpPr>
        <p:grpSpPr>
          <a:xfrm>
            <a:off x="9045026" y="797650"/>
            <a:ext cx="2763196" cy="646331"/>
            <a:chOff x="6464382" y="4390750"/>
            <a:chExt cx="2763196" cy="646331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5CEB59A6-12F1-287F-8300-F472B74DE03D}"/>
                </a:ext>
              </a:extLst>
            </p:cNvPr>
            <p:cNvSpPr/>
            <p:nvPr/>
          </p:nvSpPr>
          <p:spPr>
            <a:xfrm>
              <a:off x="6464382" y="4556491"/>
              <a:ext cx="533650" cy="342080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NL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53AE52E-34D0-1620-8CC2-E063C629B8C7}"/>
                </a:ext>
              </a:extLst>
            </p:cNvPr>
            <p:cNvSpPr txBox="1"/>
            <p:nvPr/>
          </p:nvSpPr>
          <p:spPr>
            <a:xfrm>
              <a:off x="7028553" y="4390750"/>
              <a:ext cx="21990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L" i="1" dirty="0"/>
                <a:t>Beschikbaar in</a:t>
              </a:r>
              <a:br>
                <a:rPr lang="en-NL" i="1" dirty="0"/>
              </a:br>
              <a:r>
                <a:rPr lang="en-NL" i="1" dirty="0"/>
                <a:t>MIM toolset voor LD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37DB68-E6F7-C5CE-DD0B-D265A51EC697}"/>
              </a:ext>
            </a:extLst>
          </p:cNvPr>
          <p:cNvGrpSpPr/>
          <p:nvPr/>
        </p:nvGrpSpPr>
        <p:grpSpPr>
          <a:xfrm>
            <a:off x="2064655" y="1605578"/>
            <a:ext cx="1313529" cy="3627914"/>
            <a:chOff x="450159" y="1464115"/>
            <a:chExt cx="1313529" cy="3627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D454F5-3045-FFEA-FC1E-634018BCDCB8}"/>
                </a:ext>
              </a:extLst>
            </p:cNvPr>
            <p:cNvSpPr/>
            <p:nvPr/>
          </p:nvSpPr>
          <p:spPr>
            <a:xfrm>
              <a:off x="450159" y="4416745"/>
              <a:ext cx="1313529" cy="675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.XSD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3A973C-6240-FD02-B4BA-92DA0E860D02}"/>
                </a:ext>
              </a:extLst>
            </p:cNvPr>
            <p:cNvSpPr txBox="1"/>
            <p:nvPr/>
          </p:nvSpPr>
          <p:spPr>
            <a:xfrm>
              <a:off x="992746" y="4404366"/>
              <a:ext cx="74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L" sz="3600" dirty="0">
                  <a:latin typeface="Berlin Sans FB" panose="020F0502020204030204" pitchFamily="34" charset="0"/>
                  <a:ea typeface="Permanent Marker" panose="02000000000000000000" pitchFamily="2" charset="0"/>
                  <a:cs typeface="Berlin Sans FB" panose="020F0502020204030204" pitchFamily="34" charset="0"/>
                </a:rPr>
                <a:t>&lt;/&gt;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CFCC1FD-8E76-3CA6-1BB6-2E06F71762D7}"/>
                </a:ext>
              </a:extLst>
            </p:cNvPr>
            <p:cNvCxnSpPr>
              <a:cxnSpLocks/>
              <a:stCxn id="11" idx="2"/>
              <a:endCxn id="9" idx="0"/>
            </p:cNvCxnSpPr>
            <p:nvPr/>
          </p:nvCxnSpPr>
          <p:spPr>
            <a:xfrm flipH="1">
              <a:off x="1110713" y="1464115"/>
              <a:ext cx="1" cy="1323659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FF101F7-FA90-2D77-1E7E-7D7DF0497B38}"/>
                </a:ext>
              </a:extLst>
            </p:cNvPr>
            <p:cNvCxnSpPr>
              <a:cxnSpLocks/>
              <a:stCxn id="9" idx="2"/>
              <a:endCxn id="5" idx="0"/>
            </p:cNvCxnSpPr>
            <p:nvPr/>
          </p:nvCxnSpPr>
          <p:spPr>
            <a:xfrm flipH="1">
              <a:off x="1106924" y="3208356"/>
              <a:ext cx="3789" cy="1208389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E15DA0D-217A-D1F4-5866-E75B712437A4}"/>
                </a:ext>
              </a:extLst>
            </p:cNvPr>
            <p:cNvSpPr/>
            <p:nvPr/>
          </p:nvSpPr>
          <p:spPr>
            <a:xfrm>
              <a:off x="535286" y="2787774"/>
              <a:ext cx="1150853" cy="42058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IM in tool</a:t>
              </a:r>
            </a:p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r>
                <a:rPr lang="en-GB" sz="1200" dirty="0">
                  <a:solidFill>
                    <a:schemeClr val="tx1"/>
                  </a:solidFill>
                </a:rPr>
                <a:t> XSD schema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1AB3EF-CEBC-9C4B-4064-8C60BC2158B7}"/>
              </a:ext>
            </a:extLst>
          </p:cNvPr>
          <p:cNvGrpSpPr/>
          <p:nvPr/>
        </p:nvGrpSpPr>
        <p:grpSpPr>
          <a:xfrm>
            <a:off x="1681094" y="1037898"/>
            <a:ext cx="2088231" cy="567680"/>
            <a:chOff x="66598" y="896435"/>
            <a:chExt cx="2088231" cy="5676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D432DB-F9DC-8A3D-2184-D01BC2DB82BC}"/>
                </a:ext>
              </a:extLst>
            </p:cNvPr>
            <p:cNvSpPr/>
            <p:nvPr/>
          </p:nvSpPr>
          <p:spPr>
            <a:xfrm>
              <a:off x="66598" y="896435"/>
              <a:ext cx="2088231" cy="567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.EAP</a:t>
              </a:r>
            </a:p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.EAPX</a:t>
              </a:r>
            </a:p>
          </p:txBody>
        </p:sp>
        <p:pic>
          <p:nvPicPr>
            <p:cNvPr id="12" name="Picture 6" descr="Enterprise Architect • Catch Software">
              <a:extLst>
                <a:ext uri="{FF2B5EF4-FFF2-40B4-BE49-F238E27FC236}">
                  <a16:creationId xmlns:a16="http://schemas.microsoft.com/office/drawing/2014/main" id="{7301C3FD-2ECC-C131-B0B8-056A68E699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639" y="934539"/>
              <a:ext cx="1476375" cy="4787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94E5D3-EF7E-3A5C-7E4B-53BE9DD54BAC}"/>
              </a:ext>
            </a:extLst>
          </p:cNvPr>
          <p:cNvGrpSpPr/>
          <p:nvPr/>
        </p:nvGrpSpPr>
        <p:grpSpPr>
          <a:xfrm>
            <a:off x="5248330" y="2793022"/>
            <a:ext cx="2088229" cy="567680"/>
            <a:chOff x="3633834" y="2651559"/>
            <a:chExt cx="2088229" cy="56768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33BED4-1E17-33D7-5BA6-820E9E3B9921}"/>
                </a:ext>
              </a:extLst>
            </p:cNvPr>
            <p:cNvSpPr/>
            <p:nvPr/>
          </p:nvSpPr>
          <p:spPr>
            <a:xfrm>
              <a:off x="3633834" y="2651559"/>
              <a:ext cx="2088229" cy="567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L" sz="1200" dirty="0">
                  <a:solidFill>
                    <a:schemeClr val="tx2">
                      <a:lumMod val="50000"/>
                    </a:schemeClr>
                  </a:solidFill>
                </a:rPr>
                <a:t>.TTL</a:t>
              </a:r>
            </a:p>
            <a:p>
              <a:r>
                <a:rPr lang="en-NL" sz="1200" dirty="0">
                  <a:solidFill>
                    <a:schemeClr val="tx2">
                      <a:lumMod val="50000"/>
                    </a:schemeClr>
                  </a:solidFill>
                </a:rPr>
                <a:t>.JSON</a:t>
              </a:r>
            </a:p>
            <a:p>
              <a:r>
                <a:rPr lang="en-NL" sz="1200" dirty="0">
                  <a:solidFill>
                    <a:schemeClr val="tx2">
                      <a:lumMod val="50000"/>
                    </a:schemeClr>
                  </a:solidFill>
                </a:rPr>
                <a:t>.XML</a:t>
              </a:r>
            </a:p>
          </p:txBody>
        </p:sp>
        <p:pic>
          <p:nvPicPr>
            <p:cNvPr id="15" name="Picture 14" descr="A picture containing text, clock, sign&#10;&#10;Description automatically generated">
              <a:extLst>
                <a:ext uri="{FF2B5EF4-FFF2-40B4-BE49-F238E27FC236}">
                  <a16:creationId xmlns:a16="http://schemas.microsoft.com/office/drawing/2014/main" id="{F2B8733F-DEC4-5940-EE2C-579EC90E3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5636" y="2749746"/>
              <a:ext cx="910211" cy="455106"/>
            </a:xfrm>
            <a:prstGeom prst="rect">
              <a:avLst/>
            </a:prstGeom>
          </p:spPr>
        </p:pic>
        <p:pic>
          <p:nvPicPr>
            <p:cNvPr id="16" name="Afbeelding 9">
              <a:extLst>
                <a:ext uri="{FF2B5EF4-FFF2-40B4-BE49-F238E27FC236}">
                  <a16:creationId xmlns:a16="http://schemas.microsoft.com/office/drawing/2014/main" id="{D98277E4-D7A3-2C31-EC58-A0AA5087F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3576" y="2697987"/>
              <a:ext cx="440456" cy="480829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837171-56A8-E65B-4913-E26281A34767}"/>
              </a:ext>
            </a:extLst>
          </p:cNvPr>
          <p:cNvGrpSpPr/>
          <p:nvPr/>
        </p:nvGrpSpPr>
        <p:grpSpPr>
          <a:xfrm>
            <a:off x="6292445" y="1073387"/>
            <a:ext cx="2278596" cy="1719635"/>
            <a:chOff x="4677949" y="931924"/>
            <a:chExt cx="2278596" cy="1719635"/>
          </a:xfrm>
        </p:grpSpPr>
        <p:pic>
          <p:nvPicPr>
            <p:cNvPr id="18" name="Picture 18" descr="Microsoft Apps">
              <a:extLst>
                <a:ext uri="{FF2B5EF4-FFF2-40B4-BE49-F238E27FC236}">
                  <a16:creationId xmlns:a16="http://schemas.microsoft.com/office/drawing/2014/main" id="{8AB8DE2A-B469-7AE8-10E8-C1780DF233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7428" y="931924"/>
              <a:ext cx="681680" cy="681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78214AD0-20C8-8757-87DB-53DE332D22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7568" y="1006049"/>
              <a:ext cx="576064" cy="5760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8" descr="Visual Studio logo and symbol, meaning, history, PNG">
              <a:extLst>
                <a:ext uri="{FF2B5EF4-FFF2-40B4-BE49-F238E27FC236}">
                  <a16:creationId xmlns:a16="http://schemas.microsoft.com/office/drawing/2014/main" id="{55ECED08-5D75-38B3-BD52-35FD02CDC6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4113" y="1061054"/>
              <a:ext cx="802432" cy="50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0348A1-D398-EDCB-A4F5-D9155C5BE3CC}"/>
                </a:ext>
              </a:extLst>
            </p:cNvPr>
            <p:cNvCxnSpPr>
              <a:cxnSpLocks/>
              <a:stCxn id="18" idx="2"/>
              <a:endCxn id="14" idx="0"/>
            </p:cNvCxnSpPr>
            <p:nvPr/>
          </p:nvCxnSpPr>
          <p:spPr>
            <a:xfrm flipH="1">
              <a:off x="4677949" y="1613604"/>
              <a:ext cx="350319" cy="103795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AF4A8A0-7B77-9A53-8913-9AC73D0C9EBE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4677949" y="1562574"/>
              <a:ext cx="1023591" cy="108898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B77C02E-7E0E-EE16-F63A-F180047C94E7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4677949" y="1464115"/>
              <a:ext cx="1735907" cy="1187444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8C5D46-A5DB-097A-5B3C-D6A8A3B93389}"/>
              </a:ext>
            </a:extLst>
          </p:cNvPr>
          <p:cNvGrpSpPr/>
          <p:nvPr/>
        </p:nvGrpSpPr>
        <p:grpSpPr>
          <a:xfrm>
            <a:off x="3769325" y="1115266"/>
            <a:ext cx="2204639" cy="1701252"/>
            <a:chOff x="2154829" y="973803"/>
            <a:chExt cx="2204639" cy="1701252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EAF3BC3-DC9E-5CC3-42C5-65F619A547EA}"/>
                </a:ext>
              </a:extLst>
            </p:cNvPr>
            <p:cNvSpPr/>
            <p:nvPr/>
          </p:nvSpPr>
          <p:spPr>
            <a:xfrm>
              <a:off x="2398455" y="973803"/>
              <a:ext cx="1342072" cy="4205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IM in tool</a:t>
              </a:r>
            </a:p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r>
                <a:rPr lang="en-GB" sz="1200" dirty="0">
                  <a:solidFill>
                    <a:schemeClr val="tx1"/>
                  </a:solidFill>
                </a:rPr>
                <a:t> MIM-RDF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7F94F90-37B9-1040-CA53-7C735491EE96}"/>
                </a:ext>
              </a:extLst>
            </p:cNvPr>
            <p:cNvCxnSpPr>
              <a:cxnSpLocks/>
              <a:stCxn id="11" idx="3"/>
              <a:endCxn id="25" idx="1"/>
            </p:cNvCxnSpPr>
            <p:nvPr/>
          </p:nvCxnSpPr>
          <p:spPr>
            <a:xfrm>
              <a:off x="2154829" y="1180275"/>
              <a:ext cx="243626" cy="3819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000682D1-22B5-7AA4-C801-97F933758C19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3740527" y="1184094"/>
              <a:ext cx="618941" cy="1490961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A4B494-46FE-9B22-9995-A71D5AADAE8D}"/>
              </a:ext>
            </a:extLst>
          </p:cNvPr>
          <p:cNvGrpSpPr/>
          <p:nvPr/>
        </p:nvGrpSpPr>
        <p:grpSpPr>
          <a:xfrm>
            <a:off x="1681093" y="2724479"/>
            <a:ext cx="2167761" cy="646331"/>
            <a:chOff x="66597" y="2583016"/>
            <a:chExt cx="2167761" cy="6463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D31175-F1FB-66EA-6654-42BEFEF92F4D}"/>
                </a:ext>
              </a:extLst>
            </p:cNvPr>
            <p:cNvSpPr/>
            <p:nvPr/>
          </p:nvSpPr>
          <p:spPr>
            <a:xfrm>
              <a:off x="66597" y="2651869"/>
              <a:ext cx="2088231" cy="567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.XML</a:t>
              </a:r>
            </a:p>
          </p:txBody>
        </p:sp>
        <p:pic>
          <p:nvPicPr>
            <p:cNvPr id="30" name="Picture 29" descr="A picture containing text, clock, sign&#10;&#10;Description automatically generated">
              <a:extLst>
                <a:ext uri="{FF2B5EF4-FFF2-40B4-BE49-F238E27FC236}">
                  <a16:creationId xmlns:a16="http://schemas.microsoft.com/office/drawing/2014/main" id="{7C9DA87D-E6DE-4B91-3A9B-45F088E00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55" y="2697698"/>
              <a:ext cx="910211" cy="45510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F04C29A-B555-4491-2B3E-548384656985}"/>
                </a:ext>
              </a:extLst>
            </p:cNvPr>
            <p:cNvSpPr txBox="1"/>
            <p:nvPr/>
          </p:nvSpPr>
          <p:spPr>
            <a:xfrm>
              <a:off x="1488198" y="2583016"/>
              <a:ext cx="74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L" sz="3600" dirty="0">
                  <a:latin typeface="Berlin Sans FB" panose="020F0502020204030204" pitchFamily="34" charset="0"/>
                  <a:ea typeface="Permanent Marker" panose="02000000000000000000" pitchFamily="2" charset="0"/>
                  <a:cs typeface="Berlin Sans FB" panose="020F0502020204030204" pitchFamily="34" charset="0"/>
                </a:rPr>
                <a:t>&lt;/&gt;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6B1C635-B186-5927-303A-A5379CE8A418}"/>
              </a:ext>
            </a:extLst>
          </p:cNvPr>
          <p:cNvGrpSpPr/>
          <p:nvPr/>
        </p:nvGrpSpPr>
        <p:grpSpPr>
          <a:xfrm>
            <a:off x="3769324" y="2641205"/>
            <a:ext cx="1479006" cy="864096"/>
            <a:chOff x="2154828" y="2499742"/>
            <a:chExt cx="1479006" cy="864096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E195151-6FE6-43BE-D443-BCCB92E22618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V="1">
              <a:off x="3395943" y="3153237"/>
              <a:ext cx="237891" cy="3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E0F99D9-9424-2D06-FD05-4EFFB5F2602A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>
              <a:off x="2154828" y="3153547"/>
              <a:ext cx="24869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1B33FA7-F540-5898-9213-49D436D69008}"/>
                </a:ext>
              </a:extLst>
            </p:cNvPr>
            <p:cNvSpPr/>
            <p:nvPr/>
          </p:nvSpPr>
          <p:spPr>
            <a:xfrm>
              <a:off x="2392719" y="2499742"/>
              <a:ext cx="992422" cy="42058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MIM-XML</a:t>
              </a:r>
              <a:endParaRPr lang="en-NL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n</a:t>
              </a:r>
              <a:r>
                <a:rPr lang="en-NL" sz="1200" dirty="0">
                  <a:solidFill>
                    <a:schemeClr val="tx1"/>
                  </a:solidFill>
                </a:rPr>
                <a:t>aar MIM-RDF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C23342EF-B670-9482-B453-A2491A476102}"/>
                </a:ext>
              </a:extLst>
            </p:cNvPr>
            <p:cNvSpPr/>
            <p:nvPr/>
          </p:nvSpPr>
          <p:spPr>
            <a:xfrm>
              <a:off x="2403521" y="2943256"/>
              <a:ext cx="992422" cy="42058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MIM-RDF</a:t>
              </a:r>
              <a:endParaRPr lang="en-NL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n</a:t>
              </a:r>
              <a:r>
                <a:rPr lang="en-NL" sz="1200" dirty="0">
                  <a:solidFill>
                    <a:schemeClr val="tx1"/>
                  </a:solidFill>
                </a:rPr>
                <a:t>aar MIM-XML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4AAAE64-2B4F-F3F8-4130-06DE214F4907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flipH="1" flipV="1">
              <a:off x="2154828" y="2707879"/>
              <a:ext cx="237891" cy="215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2820F0B-A416-7537-C832-D04E0BA81292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3385141" y="2707569"/>
              <a:ext cx="248693" cy="246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7D8988-B3CA-F3E9-51E7-1601FC4FD08C}"/>
              </a:ext>
            </a:extLst>
          </p:cNvPr>
          <p:cNvGrpSpPr/>
          <p:nvPr/>
        </p:nvGrpSpPr>
        <p:grpSpPr>
          <a:xfrm>
            <a:off x="5581844" y="3360702"/>
            <a:ext cx="1440160" cy="1872790"/>
            <a:chOff x="3967348" y="3219239"/>
            <a:chExt cx="1440160" cy="187279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7B38CC2-4ED8-227C-F767-2893EADFAA6C}"/>
                </a:ext>
              </a:extLst>
            </p:cNvPr>
            <p:cNvSpPr/>
            <p:nvPr/>
          </p:nvSpPr>
          <p:spPr>
            <a:xfrm>
              <a:off x="4112002" y="3601110"/>
              <a:ext cx="1150851" cy="4205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MIM-RDF</a:t>
              </a:r>
            </a:p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r>
                <a:rPr lang="en-GB" sz="1200" dirty="0">
                  <a:solidFill>
                    <a:schemeClr val="tx1"/>
                  </a:solidFill>
                </a:rPr>
                <a:t> RDF schema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279343-9CD6-33AB-5300-CA911EFAB6EE}"/>
                </a:ext>
              </a:extLst>
            </p:cNvPr>
            <p:cNvSpPr/>
            <p:nvPr/>
          </p:nvSpPr>
          <p:spPr>
            <a:xfrm>
              <a:off x="3967348" y="4363772"/>
              <a:ext cx="1440160" cy="728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.TTL</a:t>
              </a:r>
            </a:p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.JSON</a:t>
              </a:r>
            </a:p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.XML</a:t>
              </a:r>
            </a:p>
          </p:txBody>
        </p:sp>
        <p:pic>
          <p:nvPicPr>
            <p:cNvPr id="42" name="Picture 10" descr="Logos for RDF Formats (RDF/XML, Turtle, RDFa, SPARQL, R2RML, SHACL)">
              <a:extLst>
                <a:ext uri="{FF2B5EF4-FFF2-40B4-BE49-F238E27FC236}">
                  <a16:creationId xmlns:a16="http://schemas.microsoft.com/office/drawing/2014/main" id="{FE0ACF7C-5A18-4BD1-59A5-EE8B6F7A1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8246" y="4415268"/>
              <a:ext cx="593947" cy="593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ED32ACE-4A4F-38A6-4100-AD0984CF92C1}"/>
                </a:ext>
              </a:extLst>
            </p:cNvPr>
            <p:cNvCxnSpPr>
              <a:cxnSpLocks/>
              <a:stCxn id="14" idx="2"/>
              <a:endCxn id="40" idx="0"/>
            </p:cNvCxnSpPr>
            <p:nvPr/>
          </p:nvCxnSpPr>
          <p:spPr>
            <a:xfrm>
              <a:off x="4677949" y="3219239"/>
              <a:ext cx="9479" cy="381871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CD995B6-F29D-8ACF-8E22-7BC07734B091}"/>
                </a:ext>
              </a:extLst>
            </p:cNvPr>
            <p:cNvCxnSpPr>
              <a:cxnSpLocks/>
              <a:stCxn id="40" idx="2"/>
              <a:endCxn id="41" idx="0"/>
            </p:cNvCxnSpPr>
            <p:nvPr/>
          </p:nvCxnSpPr>
          <p:spPr>
            <a:xfrm>
              <a:off x="4687428" y="4021692"/>
              <a:ext cx="0" cy="34208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94ADD0-0E3D-20BD-6D7D-B597A1146FF8}"/>
              </a:ext>
            </a:extLst>
          </p:cNvPr>
          <p:cNvGrpSpPr/>
          <p:nvPr/>
        </p:nvGrpSpPr>
        <p:grpSpPr>
          <a:xfrm>
            <a:off x="7336559" y="2720590"/>
            <a:ext cx="3314433" cy="728257"/>
            <a:chOff x="5722063" y="2579127"/>
            <a:chExt cx="3314433" cy="728257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56448B09-2768-C0AC-9EAA-15A8E9F83C1D}"/>
                </a:ext>
              </a:extLst>
            </p:cNvPr>
            <p:cNvSpPr/>
            <p:nvPr/>
          </p:nvSpPr>
          <p:spPr>
            <a:xfrm>
              <a:off x="6040326" y="2725108"/>
              <a:ext cx="1237746" cy="420582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MIM-RDF </a:t>
              </a:r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endParaRPr lang="en-GB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RDF IM (</a:t>
              </a:r>
              <a:r>
                <a:rPr lang="en-GB" sz="1200" dirty="0" err="1">
                  <a:solidFill>
                    <a:schemeClr val="tx1"/>
                  </a:solidFill>
                </a:rPr>
                <a:t>ontologie</a:t>
              </a:r>
              <a:r>
                <a:rPr lang="en-GB" sz="1200" dirty="0">
                  <a:solidFill>
                    <a:schemeClr val="tx1"/>
                  </a:solidFill>
                </a:rPr>
                <a:t>)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553027E-8A8A-76DB-EC83-34AF3BB01AC2}"/>
                </a:ext>
              </a:extLst>
            </p:cNvPr>
            <p:cNvSpPr/>
            <p:nvPr/>
          </p:nvSpPr>
          <p:spPr>
            <a:xfrm>
              <a:off x="7596336" y="2579127"/>
              <a:ext cx="1440160" cy="7282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.TTL</a:t>
              </a:r>
            </a:p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.JSON</a:t>
              </a:r>
            </a:p>
            <a:p>
              <a:r>
                <a:rPr lang="en-NL" sz="1400" dirty="0">
                  <a:solidFill>
                    <a:schemeClr val="tx2">
                      <a:lumMod val="50000"/>
                    </a:schemeClr>
                  </a:solidFill>
                </a:rPr>
                <a:t>.XML</a:t>
              </a:r>
            </a:p>
          </p:txBody>
        </p:sp>
        <p:pic>
          <p:nvPicPr>
            <p:cNvPr id="48" name="Picture 10" descr="Logos for RDF Formats (RDF/XML, Turtle, RDFa, SPARQL, R2RML, SHACL)">
              <a:extLst>
                <a:ext uri="{FF2B5EF4-FFF2-40B4-BE49-F238E27FC236}">
                  <a16:creationId xmlns:a16="http://schemas.microsoft.com/office/drawing/2014/main" id="{BEE948F9-F9D8-F61D-19B7-0F9DD9B8E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7234" y="2630623"/>
              <a:ext cx="593947" cy="5939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FC19E0E-FC4F-4279-C448-AD5D1094AD45}"/>
                </a:ext>
              </a:extLst>
            </p:cNvPr>
            <p:cNvCxnSpPr>
              <a:cxnSpLocks/>
              <a:stCxn id="14" idx="3"/>
              <a:endCxn id="46" idx="1"/>
            </p:cNvCxnSpPr>
            <p:nvPr/>
          </p:nvCxnSpPr>
          <p:spPr>
            <a:xfrm>
              <a:off x="5722063" y="2935399"/>
              <a:ext cx="31826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B914BE7-59DE-72B8-D153-61A4459590D0}"/>
                </a:ext>
              </a:extLst>
            </p:cNvPr>
            <p:cNvCxnSpPr>
              <a:cxnSpLocks/>
              <a:stCxn id="46" idx="3"/>
              <a:endCxn id="47" idx="1"/>
            </p:cNvCxnSpPr>
            <p:nvPr/>
          </p:nvCxnSpPr>
          <p:spPr>
            <a:xfrm>
              <a:off x="7278072" y="2935399"/>
              <a:ext cx="318264" cy="785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D803C1-7873-2914-F9BC-81CB7E71F1B0}"/>
                </a:ext>
              </a:extLst>
            </p:cNvPr>
            <p:cNvSpPr/>
            <p:nvPr/>
          </p:nvSpPr>
          <p:spPr>
            <a:xfrm>
              <a:off x="8342179" y="3096000"/>
              <a:ext cx="504056" cy="111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NL" sz="1300" b="1" dirty="0"/>
                <a:t>OWL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40A2C9A-E4C2-1F14-0F82-17E4C15F8A0C}"/>
              </a:ext>
            </a:extLst>
          </p:cNvPr>
          <p:cNvGrpSpPr/>
          <p:nvPr/>
        </p:nvGrpSpPr>
        <p:grpSpPr>
          <a:xfrm>
            <a:off x="2149782" y="1605578"/>
            <a:ext cx="1150853" cy="2952630"/>
            <a:chOff x="535286" y="1464115"/>
            <a:chExt cx="1150853" cy="2952630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BD52DFD7-4E09-4E4B-1703-6377CAF51643}"/>
                </a:ext>
              </a:extLst>
            </p:cNvPr>
            <p:cNvSpPr/>
            <p:nvPr/>
          </p:nvSpPr>
          <p:spPr>
            <a:xfrm>
              <a:off x="535286" y="1818443"/>
              <a:ext cx="1150853" cy="42058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IM in tool</a:t>
              </a:r>
            </a:p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r>
                <a:rPr lang="en-GB" sz="1200" dirty="0">
                  <a:solidFill>
                    <a:schemeClr val="tx1"/>
                  </a:solidFill>
                </a:rPr>
                <a:t> MIM-XML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8204E08-31D4-E8DB-ECC4-4A514CB4F855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 flipH="1">
              <a:off x="1110713" y="1464115"/>
              <a:ext cx="1" cy="35432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B17A8DB-554D-29ED-0063-17464891002D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1110713" y="2239025"/>
              <a:ext cx="0" cy="41284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997D731-F12A-8C32-E6A9-C5625595D51B}"/>
                </a:ext>
              </a:extLst>
            </p:cNvPr>
            <p:cNvCxnSpPr>
              <a:cxnSpLocks/>
              <a:endCxn id="61" idx="0"/>
            </p:cNvCxnSpPr>
            <p:nvPr/>
          </p:nvCxnSpPr>
          <p:spPr>
            <a:xfrm>
              <a:off x="1110713" y="3219549"/>
              <a:ext cx="0" cy="38701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3493147-ED5C-0425-8393-FC98BA8F1FC4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1106924" y="4027147"/>
              <a:ext cx="3789" cy="38959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31C5B5D7-BFE1-EF09-631F-F90765B4B324}"/>
                </a:ext>
              </a:extLst>
            </p:cNvPr>
            <p:cNvSpPr/>
            <p:nvPr/>
          </p:nvSpPr>
          <p:spPr>
            <a:xfrm>
              <a:off x="535286" y="3606565"/>
              <a:ext cx="1150853" cy="420582"/>
            </a:xfrm>
            <a:prstGeom prst="roundRect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van MIM-XML</a:t>
              </a:r>
            </a:p>
            <a:p>
              <a:pPr algn="ctr"/>
              <a:r>
                <a:rPr lang="en-GB" sz="1200" dirty="0" err="1">
                  <a:solidFill>
                    <a:schemeClr val="tx1"/>
                  </a:solidFill>
                </a:rPr>
                <a:t>naar</a:t>
              </a:r>
              <a:r>
                <a:rPr lang="en-GB" sz="1200" dirty="0">
                  <a:solidFill>
                    <a:schemeClr val="tx1"/>
                  </a:solidFill>
                </a:rPr>
                <a:t> XSD schema</a:t>
              </a:r>
              <a:endParaRPr lang="en-NL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A2BCE23-7680-ACE4-D57A-1099855DBF58}"/>
              </a:ext>
            </a:extLst>
          </p:cNvPr>
          <p:cNvGrpSpPr/>
          <p:nvPr/>
        </p:nvGrpSpPr>
        <p:grpSpPr>
          <a:xfrm>
            <a:off x="9045026" y="1430164"/>
            <a:ext cx="2763196" cy="646331"/>
            <a:chOff x="6464382" y="4390750"/>
            <a:chExt cx="2763196" cy="646331"/>
          </a:xfrm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27DFD6A4-8D0B-CB13-2EC2-D4A7C6566950}"/>
                </a:ext>
              </a:extLst>
            </p:cNvPr>
            <p:cNvSpPr/>
            <p:nvPr/>
          </p:nvSpPr>
          <p:spPr>
            <a:xfrm>
              <a:off x="6464382" y="4556491"/>
              <a:ext cx="533650" cy="34208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NL" sz="1200" dirty="0">
                <a:solidFill>
                  <a:schemeClr val="tx1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14723B-1593-16DB-DC87-83FA28381B96}"/>
                </a:ext>
              </a:extLst>
            </p:cNvPr>
            <p:cNvSpPr txBox="1"/>
            <p:nvPr/>
          </p:nvSpPr>
          <p:spPr>
            <a:xfrm>
              <a:off x="7028553" y="4390750"/>
              <a:ext cx="21990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L" i="1" dirty="0"/>
                <a:t>Beschikbaar in</a:t>
              </a:r>
              <a:br>
                <a:rPr lang="en-NL" i="1" dirty="0"/>
              </a:br>
              <a:r>
                <a:rPr lang="en-NL" i="1" dirty="0"/>
                <a:t>Imvertor EA plugin</a:t>
              </a:r>
            </a:p>
          </p:txBody>
        </p:sp>
      </p:grp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4D602F68-6DCC-DF8B-E440-67AFCA54D78F}"/>
              </a:ext>
            </a:extLst>
          </p:cNvPr>
          <p:cNvSpPr/>
          <p:nvPr/>
        </p:nvSpPr>
        <p:spPr>
          <a:xfrm>
            <a:off x="8376498" y="4153118"/>
            <a:ext cx="1150851" cy="420582"/>
          </a:xfrm>
          <a:prstGeom prst="round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van MIM-RDF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naar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Respec</a:t>
            </a:r>
            <a:endParaRPr lang="en-NL" sz="1200" dirty="0">
              <a:solidFill>
                <a:schemeClr val="tx1"/>
              </a:solidFill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BF5F1351-BF24-950F-8648-0F765A76891A}"/>
              </a:ext>
            </a:extLst>
          </p:cNvPr>
          <p:cNvSpPr/>
          <p:nvPr/>
        </p:nvSpPr>
        <p:spPr>
          <a:xfrm>
            <a:off x="8376497" y="5019083"/>
            <a:ext cx="1150851" cy="420582"/>
          </a:xfrm>
          <a:prstGeom prst="round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van MIM-RDF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naar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GraphML</a:t>
            </a:r>
            <a:endParaRPr lang="en-NL" sz="1200" dirty="0">
              <a:solidFill>
                <a:schemeClr val="tx1"/>
              </a:solidFill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3A47499-CD5A-608C-8C6E-8E1AB1E53D96}"/>
              </a:ext>
            </a:extLst>
          </p:cNvPr>
          <p:cNvCxnSpPr>
            <a:cxnSpLocks/>
            <a:stCxn id="75" idx="2"/>
            <a:endCxn id="71" idx="1"/>
          </p:cNvCxnSpPr>
          <p:nvPr/>
        </p:nvCxnSpPr>
        <p:spPr>
          <a:xfrm rot="16200000" flipH="1">
            <a:off x="7286207" y="3273117"/>
            <a:ext cx="1002707" cy="1177875"/>
          </a:xfrm>
          <a:prstGeom prst="bentConnector2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DD4C193A-1921-79C9-B775-46E4EA7F49E6}"/>
              </a:ext>
            </a:extLst>
          </p:cNvPr>
          <p:cNvCxnSpPr>
            <a:cxnSpLocks/>
            <a:stCxn id="75" idx="2"/>
            <a:endCxn id="72" idx="1"/>
          </p:cNvCxnSpPr>
          <p:nvPr/>
        </p:nvCxnSpPr>
        <p:spPr>
          <a:xfrm rot="16200000" flipH="1">
            <a:off x="6853224" y="3706101"/>
            <a:ext cx="1868672" cy="1177874"/>
          </a:xfrm>
          <a:prstGeom prst="bentConnector2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5423FEF9-184D-EDFC-1915-2B587C83AA4E}"/>
              </a:ext>
            </a:extLst>
          </p:cNvPr>
          <p:cNvCxnSpPr>
            <a:cxnSpLocks/>
            <a:stCxn id="71" idx="3"/>
            <a:endCxn id="82" idx="1"/>
          </p:cNvCxnSpPr>
          <p:nvPr/>
        </p:nvCxnSpPr>
        <p:spPr>
          <a:xfrm flipV="1">
            <a:off x="9527349" y="4363408"/>
            <a:ext cx="471573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2DD3A83-1734-E4A5-48B9-2DC58CCCC6F8}"/>
              </a:ext>
            </a:extLst>
          </p:cNvPr>
          <p:cNvCxnSpPr>
            <a:cxnSpLocks/>
            <a:stCxn id="72" idx="3"/>
            <a:endCxn id="83" idx="1"/>
          </p:cNvCxnSpPr>
          <p:nvPr/>
        </p:nvCxnSpPr>
        <p:spPr>
          <a:xfrm>
            <a:off x="9527348" y="5229374"/>
            <a:ext cx="403564" cy="62943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02F239-1838-3065-3A7E-E93DD4AB663B}"/>
              </a:ext>
            </a:extLst>
          </p:cNvPr>
          <p:cNvGrpSpPr/>
          <p:nvPr/>
        </p:nvGrpSpPr>
        <p:grpSpPr>
          <a:xfrm>
            <a:off x="9930912" y="5298223"/>
            <a:ext cx="1981587" cy="1121179"/>
            <a:chOff x="9630040" y="4558301"/>
            <a:chExt cx="1981587" cy="1121179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CC3A72D-981A-A509-913E-87BAE3C604A3}"/>
                </a:ext>
              </a:extLst>
            </p:cNvPr>
            <p:cNvSpPr/>
            <p:nvPr/>
          </p:nvSpPr>
          <p:spPr>
            <a:xfrm>
              <a:off x="9630040" y="4558301"/>
              <a:ext cx="1981587" cy="1121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F8EACF1-FD19-E072-0DB9-9DC5E8AA8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39247" y="4801002"/>
              <a:ext cx="1768103" cy="635775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988411E-48C7-912E-EF85-18B82C3661F0}"/>
              </a:ext>
            </a:extLst>
          </p:cNvPr>
          <p:cNvGrpSpPr/>
          <p:nvPr/>
        </p:nvGrpSpPr>
        <p:grpSpPr>
          <a:xfrm>
            <a:off x="9998922" y="3802818"/>
            <a:ext cx="1498453" cy="1121180"/>
            <a:chOff x="9832444" y="2694777"/>
            <a:chExt cx="1498453" cy="112118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08BDA6B-734A-CE6E-FD09-989F08F150E0}"/>
                </a:ext>
              </a:extLst>
            </p:cNvPr>
            <p:cNvSpPr/>
            <p:nvPr/>
          </p:nvSpPr>
          <p:spPr>
            <a:xfrm>
              <a:off x="9832444" y="2694777"/>
              <a:ext cx="1498453" cy="11211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dirty="0"/>
            </a:p>
          </p:txBody>
        </p:sp>
        <p:pic>
          <p:nvPicPr>
            <p:cNvPr id="97" name="Picture 9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104985B-5436-6582-08F3-263DE66F7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889504" y="2828253"/>
              <a:ext cx="1321076" cy="906483"/>
            </a:xfrm>
            <a:prstGeom prst="rect">
              <a:avLst/>
            </a:prstGeom>
          </p:spPr>
        </p:pic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D3A0BE-1D80-5E0C-F9EB-3BD320661682}"/>
              </a:ext>
            </a:extLst>
          </p:cNvPr>
          <p:cNvSpPr/>
          <p:nvPr/>
        </p:nvSpPr>
        <p:spPr>
          <a:xfrm>
            <a:off x="423503" y="3742573"/>
            <a:ext cx="1150853" cy="420582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van IM in tool</a:t>
            </a:r>
          </a:p>
          <a:p>
            <a:pPr algn="ctr"/>
            <a:r>
              <a:rPr lang="en-GB" sz="1200" dirty="0" err="1">
                <a:solidFill>
                  <a:schemeClr val="tx1"/>
                </a:solidFill>
              </a:rPr>
              <a:t>naar</a:t>
            </a:r>
            <a:r>
              <a:rPr lang="en-GB" sz="1200" dirty="0">
                <a:solidFill>
                  <a:schemeClr val="tx1"/>
                </a:solidFill>
              </a:rPr>
              <a:t> </a:t>
            </a:r>
            <a:r>
              <a:rPr lang="en-GB" sz="1200" dirty="0" err="1">
                <a:solidFill>
                  <a:schemeClr val="tx1"/>
                </a:solidFill>
              </a:rPr>
              <a:t>Respec</a:t>
            </a:r>
            <a:endParaRPr lang="en-NL" sz="1200" dirty="0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817AD9C-218F-D125-EF48-177B099907C8}"/>
              </a:ext>
            </a:extLst>
          </p:cNvPr>
          <p:cNvGrpSpPr/>
          <p:nvPr/>
        </p:nvGrpSpPr>
        <p:grpSpPr>
          <a:xfrm>
            <a:off x="251312" y="4818854"/>
            <a:ext cx="1498453" cy="1121180"/>
            <a:chOff x="9832444" y="2694777"/>
            <a:chExt cx="1498453" cy="112118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F65DFB-E0C9-78F8-013B-DC4407F0DDCB}"/>
                </a:ext>
              </a:extLst>
            </p:cNvPr>
            <p:cNvSpPr/>
            <p:nvPr/>
          </p:nvSpPr>
          <p:spPr>
            <a:xfrm>
              <a:off x="9832444" y="2694777"/>
              <a:ext cx="1498453" cy="11211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pic>
          <p:nvPicPr>
            <p:cNvPr id="64" name="Picture 6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E4AF0F4-0A4C-39EC-3CBA-B340A00EE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889504" y="2828253"/>
              <a:ext cx="1321076" cy="906483"/>
            </a:xfrm>
            <a:prstGeom prst="rect">
              <a:avLst/>
            </a:prstGeom>
          </p:spPr>
        </p:pic>
      </p:grp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0322702-B7AE-128B-BC55-6D4DCF8492A3}"/>
              </a:ext>
            </a:extLst>
          </p:cNvPr>
          <p:cNvCxnSpPr>
            <a:cxnSpLocks/>
            <a:stCxn id="11" idx="1"/>
            <a:endCxn id="2" idx="0"/>
          </p:cNvCxnSpPr>
          <p:nvPr/>
        </p:nvCxnSpPr>
        <p:spPr>
          <a:xfrm rot="10800000" flipV="1">
            <a:off x="998930" y="1321737"/>
            <a:ext cx="682164" cy="2420835"/>
          </a:xfrm>
          <a:prstGeom prst="bentConnector2">
            <a:avLst/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7C4B2706-B56C-4BF9-2DB2-D554F36F5B86}"/>
              </a:ext>
            </a:extLst>
          </p:cNvPr>
          <p:cNvCxnSpPr>
            <a:cxnSpLocks/>
            <a:stCxn id="2" idx="2"/>
            <a:endCxn id="63" idx="0"/>
          </p:cNvCxnSpPr>
          <p:nvPr/>
        </p:nvCxnSpPr>
        <p:spPr>
          <a:xfrm rot="16200000" flipH="1">
            <a:off x="671885" y="4490199"/>
            <a:ext cx="655699" cy="16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07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104</Words>
  <Application>Microsoft Macintosh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Berlin Sans FB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BRATTINGA Marco</dc:creator>
  <cp:lastModifiedBy>BRATTINGA Marco</cp:lastModifiedBy>
  <cp:revision>4</cp:revision>
  <dcterms:created xsi:type="dcterms:W3CDTF">2025-09-11T07:09:15Z</dcterms:created>
  <dcterms:modified xsi:type="dcterms:W3CDTF">2025-09-11T13:59:43Z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C2 - Restricted use </vt:lpwstr>
  </property>
</Properties>
</file>